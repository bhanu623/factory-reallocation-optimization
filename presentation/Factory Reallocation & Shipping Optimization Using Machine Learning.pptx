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5" r:id="rId17"/>
    <p:sldId id="317" r:id="rId18"/>
    <p:sldId id="316" r:id="rId19"/>
    <p:sldId id="311" r:id="rId20"/>
    <p:sldId id="312" r:id="rId21"/>
    <p:sldId id="313" r:id="rId22"/>
    <p:sldId id="31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vector-art/12579018-thank-you-handwritten-hand-drawn-lettering-thank-you-typography-thank-you-card-vector-illustration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09334" y="1237467"/>
            <a:ext cx="3428389" cy="3139461"/>
          </a:xfrm>
        </p:spPr>
        <p:txBody>
          <a:bodyPr anchor="b">
            <a:noAutofit/>
          </a:bodyPr>
          <a:lstStyle/>
          <a:p>
            <a:r>
              <a:rPr lang="en-US" sz="2800" dirty="0"/>
              <a:t>Factory Reallocation &amp; Shipping Optimization Using Machine Learning and Recommendation Systems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P Bhanu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Data analyst internship</a:t>
            </a:r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C31E190-AB49-166E-111B-2914A995B8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86297"/>
            <a:ext cx="77419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Supply chain optimization is important for business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Shipping delays increase operational costs.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can improve logistics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focuses on lead time prediction and factory optimization. </a:t>
            </a:r>
          </a:p>
        </p:txBody>
      </p:sp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B1F68-2ED6-E173-87D0-4D0928628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E3029-DF11-CD7D-E646-B1D691E1E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Businesses often face: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Long shipment delays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Inefficient factory allocation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profitability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Lack of operational insights</a:t>
            </a:r>
          </a:p>
          <a:p>
            <a:r>
              <a:rPr lang="en-US" b="1" dirty="0"/>
              <a:t>Proposed Solution</a:t>
            </a:r>
          </a:p>
          <a:p>
            <a:r>
              <a:rPr lang="en-US" dirty="0"/>
              <a:t>Develop an intelligent recommendation system using machine learning.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658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D6691-4824-FE4E-B025-59B6C994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C99F3-5316-5661-39F3-1B415F544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3B4DE3-3C50-5392-E2F9-F7AF1BD907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05510"/>
            <a:ext cx="987231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 and cleaning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 time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 system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dashboard creation </a:t>
            </a:r>
          </a:p>
        </p:txBody>
      </p:sp>
    </p:spTree>
    <p:extLst>
      <p:ext uri="{BB962C8B-B14F-4D97-AF65-F5344CB8AC3E}">
        <p14:creationId xmlns:p14="http://schemas.microsoft.com/office/powerpoint/2010/main" val="989626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51CF-5C4C-A669-5F26-AE181DE39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F542B-A572-0DF6-04F4-51EBF21EB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1"/>
            <a:ext cx="10308657" cy="405196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Dataset Used : Nassau Candy Distributor Dataset</a:t>
            </a:r>
          </a:p>
          <a:p>
            <a:r>
              <a:rPr lang="en-US" b="1" dirty="0"/>
              <a:t>Dataset Features</a:t>
            </a:r>
          </a:p>
          <a:p>
            <a:r>
              <a:rPr lang="en-US" dirty="0"/>
              <a:t>Product Name</a:t>
            </a:r>
          </a:p>
          <a:p>
            <a:r>
              <a:rPr lang="en-US" dirty="0"/>
              <a:t>Region</a:t>
            </a:r>
          </a:p>
          <a:p>
            <a:r>
              <a:rPr lang="en-US" dirty="0"/>
              <a:t>Ship Mode</a:t>
            </a:r>
          </a:p>
          <a:p>
            <a:r>
              <a:rPr lang="en-US" dirty="0"/>
              <a:t>Sales</a:t>
            </a:r>
          </a:p>
          <a:p>
            <a:r>
              <a:rPr lang="en-US" dirty="0"/>
              <a:t>Gross Profit</a:t>
            </a:r>
          </a:p>
          <a:p>
            <a:r>
              <a:rPr lang="en-US" dirty="0"/>
              <a:t>Cost</a:t>
            </a:r>
          </a:p>
          <a:p>
            <a:r>
              <a:rPr lang="en-US" dirty="0"/>
              <a:t>Order Date</a:t>
            </a:r>
          </a:p>
          <a:p>
            <a:r>
              <a:rPr lang="en-US" dirty="0"/>
              <a:t>Ship Date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1196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9BE26-3C1D-0C0C-C288-0B97964B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1B3FB-5334-8B20-CAD9-7134A887D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ADB2C5-9CB7-23AD-482F-63AD635C31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0495692"/>
              </p:ext>
            </p:extLst>
          </p:nvPr>
        </p:nvGraphicFramePr>
        <p:xfrm>
          <a:off x="1097280" y="3031500"/>
          <a:ext cx="9891964" cy="2926080"/>
        </p:xfrm>
        <a:graphic>
          <a:graphicData uri="http://schemas.openxmlformats.org/drawingml/2006/table">
            <a:tbl>
              <a:tblPr/>
              <a:tblGrid>
                <a:gridCol w="4909085">
                  <a:extLst>
                    <a:ext uri="{9D8B030D-6E8A-4147-A177-3AD203B41FA5}">
                      <a16:colId xmlns:a16="http://schemas.microsoft.com/office/drawing/2014/main" val="1724150453"/>
                    </a:ext>
                  </a:extLst>
                </a:gridCol>
                <a:gridCol w="4982879">
                  <a:extLst>
                    <a:ext uri="{9D8B030D-6E8A-4147-A177-3AD203B41FA5}">
                      <a16:colId xmlns:a16="http://schemas.microsoft.com/office/drawing/2014/main" val="5698052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871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Programming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775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559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Numerical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646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Matplotlib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294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Scikit-learn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Machine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821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Streamlit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275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Colab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Development 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84711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D0B70D0-47B3-B1BD-ABAE-35F2A2CD8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2292836"/>
            <a:ext cx="1207970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&amp; Technologies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90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1BBAF-8312-144E-E6B9-3793C6B8D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2747A-A05C-3386-534C-C5A7D836D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Preprocessing Steps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Dataset loading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Missing value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Date conversion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Lead time creation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Feature engineering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Encoding categorical variables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311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05D6B-F174-9839-DD18-99E56DDE0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95BE0-7BED-4B4A-E431-156CD1A49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EDA Visualizations</a:t>
            </a:r>
          </a:p>
          <a:p>
            <a:r>
              <a:rPr lang="en-US" b="1" dirty="0"/>
              <a:t>Add Screenshots: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Sales by Region Graph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Correlation Heatmap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Lead Time Distribution</a:t>
            </a:r>
          </a:p>
          <a:p>
            <a:r>
              <a:rPr lang="en-US" b="1" dirty="0"/>
              <a:t>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regions showed higher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Lead time affects operational 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and profit are positively correlated.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2176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F4BD6-CD5E-45BD-4695-B1C8565AD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EEC46-C3EC-3382-CE6B-7A9417AB1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Models Implemented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Linear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Random Forest Regressor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Gradient Boosting Regressor</a:t>
            </a:r>
          </a:p>
          <a:p>
            <a:r>
              <a:rPr lang="en-US" b="1" dirty="0"/>
              <a:t>Evaluation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RMSE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R² Score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9976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03E52-4980-EB49-203A-0A8435464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Results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D77CD92-C498-6DA2-8F13-D762F29C5A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0142834"/>
              </p:ext>
            </p:extLst>
          </p:nvPr>
        </p:nvGraphicFramePr>
        <p:xfrm>
          <a:off x="1097280" y="2497217"/>
          <a:ext cx="10058400" cy="146304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395318807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71738811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94930235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8178055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863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-0.0008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618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-0.088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901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Gradient Boosting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-0.006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491652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63236FB3-B512-0B1B-9519-3786A1098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204001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9431EF-A994-A21C-902A-31610C9F2EE6}"/>
              </a:ext>
            </a:extLst>
          </p:cNvPr>
          <p:cNvSpPr txBox="1"/>
          <p:nvPr/>
        </p:nvSpPr>
        <p:spPr>
          <a:xfrm>
            <a:off x="1096963" y="4601761"/>
            <a:ext cx="66414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Best Model</a:t>
            </a:r>
          </a:p>
          <a:p>
            <a:pPr>
              <a:buNone/>
            </a:pPr>
            <a:r>
              <a:rPr lang="en-IN" dirty="0"/>
              <a:t>Gradient Boosting Regressor</a:t>
            </a:r>
          </a:p>
        </p:txBody>
      </p:sp>
    </p:spTree>
    <p:extLst>
      <p:ext uri="{BB962C8B-B14F-4D97-AF65-F5344CB8AC3E}">
        <p14:creationId xmlns:p14="http://schemas.microsoft.com/office/powerpoint/2010/main" val="666680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E2DCE-5DBA-51F5-3DE1-0C5C8772C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5102E-2999-69F4-1584-D2BAD0F71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Recommendation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lead time → Recommend Faster Factory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Moderate lead time → Consider Alternative Factory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lead time → Current Factory Efficient</a:t>
            </a:r>
          </a:p>
          <a:p>
            <a:r>
              <a:rPr lang="en-US" b="1" dirty="0"/>
              <a:t>Optimization 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Lead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Profit Margin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Optimization Score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9899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01B92-1D3F-686E-C20B-A9FE3FE9D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Streamlit</a:t>
            </a:r>
            <a:r>
              <a:rPr lang="en-IN" dirty="0"/>
              <a:t>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ABC4C6-7816-69C3-4DF3-D9AAA8BEE9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4189" y="1802809"/>
            <a:ext cx="10700085" cy="451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7CDFC8-5BDC-C1E7-F1BF-BC6975A431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417"/>
          <a:stretch>
            <a:fillRect/>
          </a:stretch>
        </p:blipFill>
        <p:spPr>
          <a:xfrm>
            <a:off x="0" y="208546"/>
            <a:ext cx="12192000" cy="309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24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DCD177-72A0-15CC-61DC-4A760EC035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142"/>
          <a:stretch>
            <a:fillRect/>
          </a:stretch>
        </p:blipFill>
        <p:spPr>
          <a:xfrm>
            <a:off x="0" y="144379"/>
            <a:ext cx="12192000" cy="56111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DA1F04-2E07-98D0-A641-B885758BA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822" y="144379"/>
            <a:ext cx="5950212" cy="32433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CD00BB-9412-2DFA-D44E-98D9AB4C8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822" y="3243353"/>
            <a:ext cx="5907536" cy="31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607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77612E-6137-4ADF-D9A9-A891D5AE3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3973"/>
            <a:ext cx="12192000" cy="447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374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F210A-3BAE-5C3F-F608-03509090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10ECF-962F-A591-2AD7-CDB634A13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Major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learning improves logistics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Recommendation systems support optimization.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Dashboard enables business monitoring.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Lead time impacts operational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5922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DA4E-42BA-9AF3-C2AF-9FF43A2EE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4360C6-D704-22DE-1814-C2D74E1A18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228671"/>
            <a:ext cx="78349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developed ML-based optimization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recommendation engine.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interactive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operational analysis using data science. </a:t>
            </a:r>
          </a:p>
        </p:txBody>
      </p:sp>
    </p:spTree>
    <p:extLst>
      <p:ext uri="{BB962C8B-B14F-4D97-AF65-F5344CB8AC3E}">
        <p14:creationId xmlns:p14="http://schemas.microsoft.com/office/powerpoint/2010/main" val="1121275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427EF-4F31-6D9A-21E7-6DBD0EACE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24AA4-00D1-BB0D-36FB-F32C20378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Future Enhancements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shipment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Deep learning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 deployment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ERP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Advanced forecasting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4394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AB03D-BBD1-9E89-F3B4-5FC2AD4F8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667000" y="0"/>
            <a:ext cx="6858000" cy="620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808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{A4EC9CA3-8C41-4904-994E-F3EC390BF28C}tf22712842_win32</Template>
  <TotalTime>108</TotalTime>
  <Words>361</Words>
  <Application>Microsoft Office PowerPoint</Application>
  <PresentationFormat>Widescreen</PresentationFormat>
  <Paragraphs>127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Bookman Old Style</vt:lpstr>
      <vt:lpstr>Calibri</vt:lpstr>
      <vt:lpstr>Franklin Gothic Book</vt:lpstr>
      <vt:lpstr>Custom</vt:lpstr>
      <vt:lpstr>Factory Reallocation &amp; Shipping Optimization Using Machine Learning and Recommendation Systems</vt:lpstr>
      <vt:lpstr>Introduction</vt:lpstr>
      <vt:lpstr>Problem Statement</vt:lpstr>
      <vt:lpstr>Project Objectives</vt:lpstr>
      <vt:lpstr>Dataset Description</vt:lpstr>
      <vt:lpstr>Technologies Used</vt:lpstr>
      <vt:lpstr>Data Preprocessing</vt:lpstr>
      <vt:lpstr>Exploratory Data Analysis</vt:lpstr>
      <vt:lpstr>Machine Learning Models</vt:lpstr>
      <vt:lpstr>Model Results</vt:lpstr>
      <vt:lpstr>Recommendation System</vt:lpstr>
      <vt:lpstr>Streamlit Dashboard</vt:lpstr>
      <vt:lpstr>PowerPoint Presentation</vt:lpstr>
      <vt:lpstr>PowerPoint Presentation</vt:lpstr>
      <vt:lpstr>PowerPoint Presentation</vt:lpstr>
      <vt:lpstr>Results &amp; Findings</vt:lpstr>
      <vt:lpstr>Conclusion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2026-05-20T11:28:32Z</dcterms:created>
  <dcterms:modified xsi:type="dcterms:W3CDTF">2026-05-22T07:39:30Z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